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charts/chart2.xml" ContentType="application/vnd.openxmlformats-officedocument.drawingml.chart+xml"/>
  <Override PartName="/ppt/charts/chart1.xml" ContentType="application/vnd.openxmlformats-officedocument.drawingml.chart+xml"/>
  <Override PartName="/ppt/charts/chart4.xml" ContentType="application/vnd.openxmlformats-officedocument.drawingml.chart+xml"/>
  <Override PartName="/ppt/charts/chart3.xml" ContentType="application/vnd.openxmlformats-officedocument.drawingml.chart+xml"/>
  <Override PartName="/ppt/slideLayouts/_rels/slideLayout15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7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_rels/slideMaster10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media/image6.jpeg" ContentType="image/jpeg"/>
  <Override PartName="/ppt/media/image5.jpeg" ContentType="image/jpeg"/>
  <Override PartName="/ppt/media/image4.jpeg" ContentType="image/jpeg"/>
  <Override PartName="/ppt/media/image3.jpeg" ContentType="image/jpeg"/>
  <Override PartName="/ppt/media/image1.jpeg" ContentType="image/jpeg"/>
  <Override PartName="/ppt/media/image12.jpeg" ContentType="image/jpeg"/>
  <Override PartName="/ppt/media/image2.jpeg" ContentType="image/jpeg"/>
  <Override PartName="/ppt/media/image11.jpeg" ContentType="image/jpeg"/>
  <Override PartName="/ppt/media/image13.png" ContentType="image/png"/>
  <Override PartName="/ppt/media/image7.jpeg" ContentType="image/jpeg"/>
  <Override PartName="/ppt/media/image10.jpeg" ContentType="image/jpeg"/>
  <Override PartName="/ppt/media/image9.jpeg" ContentType="image/jpeg"/>
  <Override PartName="/ppt/media/image8.jpeg" ContentType="image/jpeg"/>
  <Override PartName="/ppt/presentation.xml" ContentType="application/vnd.openxmlformats-officedocument.presentationml.presentation.main+xml"/>
  <Override PartName="/ppt/theme/theme9.xml" ContentType="application/vnd.openxmlformats-officedocument.theme+xml"/>
  <Override PartName="/ppt/theme/theme4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5.xml" ContentType="application/vnd.openxmlformats-officedocument.theme+xml"/>
  <Override PartName="/ppt/theme/theme17.xml" ContentType="application/vnd.openxmlformats-officedocument.theme+xml"/>
  <Override PartName="/ppt/theme/theme14.xml" ContentType="application/vnd.openxmlformats-officedocument.theme+xml"/>
  <Override PartName="/ppt/theme/theme6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10.xml" ContentType="application/vnd.openxmlformats-officedocument.theme+xml"/>
  <Override PartName="/ppt/theme/theme7.xml" ContentType="application/vnd.openxmlformats-officedocument.theme+xml"/>
  <Override PartName="/ppt/theme/theme15.xml" ContentType="application/vnd.openxmlformats-officedocument.theme+xml"/>
  <Override PartName="/ppt/theme/theme8.xml" ContentType="application/vnd.openxmlformats-officedocument.theme+xml"/>
  <Override PartName="/ppt/theme/theme16.xml" ContentType="application/vnd.openxmlformats-officedocument.theme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ffffff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ffffff"/>
                </a:solidFill>
                <a:latin typeface="Calibri"/>
              </a:rPr>
              <a:t>Заглавие диаграммы</a:t>
            </a:r>
          </a:p>
        </c:rich>
      </c:tx>
      <c:layout>
        <c:manualLayout>
          <c:xMode val="edge"/>
          <c:yMode val="edge"/>
          <c:x val="0.675170519975197"/>
          <c:y val="0.904597395694924"/>
        </c:manualLayout>
      </c:layout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004185"/>
            </a:solidFill>
            <a:ln w="0">
              <a:noFill/>
            </a:ln>
          </c:spPr>
          <c:invertIfNegative val="0"/>
          <c:dPt>
            <c:idx val="1"/>
            <c:invertIfNegative val="0"/>
            <c:spPr>
              <a:solidFill>
                <a:srgbClr val="00cccc"/>
              </a:solidFill>
              <a:ln w="0">
                <a:noFill/>
              </a:ln>
            </c:spPr>
          </c:dPt>
          <c:dLbls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5a5a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14634085"/>
        <c:axId val="56488056"/>
      </c:barChart>
      <c:catAx>
        <c:axId val="14634085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ffffff"/>
                </a:solidFill>
                <a:latin typeface="Calibri"/>
              </a:defRPr>
            </a:pPr>
          </a:p>
        </c:txPr>
        <c:crossAx val="56488056"/>
        <c:crosses val="autoZero"/>
        <c:auto val="1"/>
        <c:lblAlgn val="ctr"/>
        <c:lblOffset val="100"/>
        <c:noMultiLvlLbl val="0"/>
      </c:catAx>
      <c:valAx>
        <c:axId val="56488056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14634085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Продажи</a:t>
            </a:r>
          </a:p>
        </c:rich>
      </c:tx>
      <c:overlay val="0"/>
      <c:spPr>
        <a:noFill/>
        <a:ln w="0">
          <a:noFill/>
        </a:ln>
      </c:spPr>
    </c:title>
    <c:autoTitleDeleted val="0"/>
    <c:view3D>
      <c:rotX val="30"/>
      <c:rotY val="0"/>
      <c:rAngAx val="0"/>
      <c:perspective val="30"/>
    </c:view3D>
    <c:floor>
      <c:spPr>
        <a:solidFill>
          <a:srgbClr val="d9d9d9"/>
        </a:solidFill>
        <a:ln w="0">
          <a:noFill/>
        </a:ln>
      </c:spPr>
    </c:floor>
    <c:sideWall>
      <c:spPr>
        <a:solidFill>
          <a:srgbClr val="d9d9d9"/>
        </a:solidFill>
        <a:ln w="0">
          <a:noFill/>
        </a:ln>
      </c:spPr>
    </c:sideWall>
    <c:backWall>
      <c:spPr>
        <a:solidFill>
          <a:srgbClr val="d9d9d9"/>
        </a:solidFill>
        <a:ln w="0">
          <a:noFill/>
        </a:ln>
      </c:spPr>
    </c:backWall>
    <c:plotArea>
      <c:pie3D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cccc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1e4590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solidFill>
                <a:srgbClr val="40c0ef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3"/>
            <c:spPr>
              <a:solidFill>
                <a:srgbClr val="f0dc81"/>
              </a:solidFill>
              <a:ln w="2556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</c:pie3DChart>
    </c:plotArea>
    <c:legend>
      <c:legendPos val="b"/>
      <c:overlay val="0"/>
      <c:spPr>
        <a:solidFill>
          <a:srgbClr val="40c0ef"/>
        </a:solidFill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b80b0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dc5e4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22171013"/>
        <c:axId val="56712573"/>
      </c:barChart>
      <c:catAx>
        <c:axId val="22171013"/>
        <c:scaling>
          <c:orientation val="minMax"/>
        </c:scaling>
        <c:delete val="0"/>
        <c:axPos val="b"/>
        <c:numFmt formatCode="&quot;Основной&quot;" sourceLinked="0"/>
        <c:majorTickMark val="out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56712573"/>
        <c:crosses val="autoZero"/>
        <c:auto val="1"/>
        <c:lblAlgn val="ctr"/>
        <c:lblOffset val="100"/>
        <c:noMultiLvlLbl val="0"/>
      </c:catAx>
      <c:valAx>
        <c:axId val="56712573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22171013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zero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ea7551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00cccc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49655917"/>
        <c:axId val="22362093"/>
      </c:barChart>
      <c:catAx>
        <c:axId val="49655917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22362093"/>
        <c:crosses val="autoZero"/>
        <c:auto val="1"/>
        <c:lblAlgn val="ctr"/>
        <c:lblOffset val="100"/>
        <c:noMultiLvlLbl val="0"/>
      </c:catAx>
      <c:valAx>
        <c:axId val="22362093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49655917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D50509-45A2-4DE0-9448-8807359801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95B833-FB0C-4628-AAEF-A96C89412F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3EDE7E8-6D85-40D3-98A6-A951212422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1FCEF85-085F-4192-8DB8-C3AA9B2EA41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607F77C-DC01-4D62-8246-87D4A9948B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9459D54-33BD-43E0-B0B1-EAB80DC0CA4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ACFF218-3749-4FEE-9462-93E4EED6D9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A7451A43-C85A-469F-A529-8402A02416E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25D9207-C9D6-4182-BC6F-DB6BF58663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62135EC0-DB05-48FB-BB16-F91F6CB6F6F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B5C4E884-4506-4DAC-8AED-2C15A45174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DC7A8AF0-311E-4B28-9219-E1C7C49B3F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EEAA47D3-A707-4008-9129-C13B1A188D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E3679401-8076-4FA6-9411-9F1FD1544C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E16D73DB-402E-4776-9F98-6938329F4E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BD538E54-7D26-47B8-B752-FC9801F2F4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F35BCA7B-6B6A-4B14-8445-A593906F4F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2.jpeg"/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2.jpeg"/><Relationship Id="rId3" Type="http://schemas.openxmlformats.org/officeDocument/2006/relationships/chart" Target="../charts/chart2.xml"/><Relationship Id="rId4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2.jpeg"/><Relationship Id="rId3" Type="http://schemas.openxmlformats.org/officeDocument/2006/relationships/chart" Target="../charts/chart3.xml"/><Relationship Id="rId4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2.jpeg"/><Relationship Id="rId3" Type="http://schemas.openxmlformats.org/officeDocument/2006/relationships/chart" Target="../charts/chart4.xml"/><Relationship Id="rId4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ru-RU" sz="6000" spc="-1" strike="noStrike">
                <a:solidFill>
                  <a:schemeClr val="dk1"/>
                </a:solidFill>
                <a:latin typeface="Montserra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458040" y="1709640"/>
            <a:ext cx="5152680" cy="252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3800" spc="-1" strike="noStrike">
                <a:solidFill>
                  <a:schemeClr val="dk1"/>
                </a:solidFill>
                <a:latin typeface="Montserrat"/>
              </a:rPr>
              <a:t>Образец заголовка</a:t>
            </a:r>
            <a:endParaRPr b="0" lang="ru-RU" sz="3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458040" y="4589640"/>
            <a:ext cx="5152680" cy="150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 type="sldNum" idx="12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Montserrat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Montserrat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7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8"/>
          <p:cNvSpPr>
            <a:spLocks noGrp="1"/>
          </p:cNvSpPr>
          <p:nvPr>
            <p:ph type="sldNum" idx="15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sldNum" idx="18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21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4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ru-RU" sz="6000" spc="-1" strike="noStrike">
                <a:solidFill>
                  <a:schemeClr val="lt1"/>
                </a:solidFill>
                <a:latin typeface="Montserra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27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lt1"/>
                </a:solidFill>
                <a:latin typeface="Arial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lt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lt1"/>
                </a:solidFill>
                <a:latin typeface="Arial"/>
              </a:rPr>
              <a:t>Второй уровень структуры</a:t>
            </a:r>
            <a:endParaRPr b="0" lang="ru-RU" sz="2000" spc="-1" strike="noStrike">
              <a:solidFill>
                <a:schemeClr val="lt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lt1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chemeClr val="lt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lt1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chemeClr val="lt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lt1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chemeClr val="lt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lt1"/>
                </a:solidFill>
                <a:latin typeface="Montserra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lt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lt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lt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lt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lt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lt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0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222800" y="1054080"/>
            <a:ext cx="7387920" cy="32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b="1" lang="ru-RU" sz="6000" spc="-1" strike="noStrike">
                <a:solidFill>
                  <a:schemeClr val="lt1"/>
                </a:solidFill>
                <a:latin typeface="Montserra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689440" y="4589640"/>
            <a:ext cx="5920920" cy="150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lt1"/>
                </a:solidFill>
                <a:latin typeface="Arial"/>
              </a:rPr>
              <a:t>Образец текста</a:t>
            </a:r>
            <a:endParaRPr b="0" lang="ru-RU" sz="24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33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lt1"/>
                </a:solidFill>
                <a:latin typeface="Montserra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lt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lt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lt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lt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lt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lt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lt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lt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lt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lt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lt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lt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sldNum" idx="36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lt1"/>
                </a:solidFill>
                <a:latin typeface="Montserra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lt1"/>
                </a:solidFill>
                <a:latin typeface="Arial"/>
              </a:rPr>
              <a:t>Образец текста</a:t>
            </a:r>
            <a:endParaRPr b="0" lang="ru-RU" sz="24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lt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lt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lt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lt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lt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lt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lt1"/>
                </a:solidFill>
                <a:latin typeface="Arial"/>
              </a:rPr>
              <a:t>Образец текста</a:t>
            </a:r>
            <a:endParaRPr b="0" lang="ru-RU" sz="24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lt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lt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lt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lt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lt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lt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" name="PlaceHolder 8"/>
          <p:cNvSpPr>
            <a:spLocks noGrp="1"/>
          </p:cNvSpPr>
          <p:nvPr>
            <p:ph type="sldNum" idx="39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lt1"/>
                </a:solidFill>
                <a:latin typeface="Montserra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dt" idx="4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ftr" idx="4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sldNum" idx="42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graphicFrame>
        <p:nvGraphicFramePr>
          <p:cNvPr id="87" name="Диаграмма 8"/>
          <p:cNvGraphicFramePr/>
          <p:nvPr/>
        </p:nvGraphicFramePr>
        <p:xfrm>
          <a:off x="2031840" y="719640"/>
          <a:ext cx="8127720" cy="5418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dt" idx="4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ftr" idx="4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45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graphicFrame>
        <p:nvGraphicFramePr>
          <p:cNvPr id="92" name="Диаграмма 7"/>
          <p:cNvGraphicFramePr/>
          <p:nvPr/>
        </p:nvGraphicFramePr>
        <p:xfrm>
          <a:off x="2031840" y="719640"/>
          <a:ext cx="8127720" cy="5418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dt" idx="4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ftr" idx="4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48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graphicFrame>
        <p:nvGraphicFramePr>
          <p:cNvPr id="96" name="Диаграмма 10"/>
          <p:cNvGraphicFramePr/>
          <p:nvPr/>
        </p:nvGraphicFramePr>
        <p:xfrm>
          <a:off x="2031840" y="719640"/>
          <a:ext cx="8127720" cy="5418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4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dt" idx="4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ftr" idx="5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51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graphicFrame>
        <p:nvGraphicFramePr>
          <p:cNvPr id="100" name="Диаграмма 11"/>
          <p:cNvGraphicFramePr/>
          <p:nvPr/>
        </p:nvGraphicFramePr>
        <p:xfrm>
          <a:off x="2031840" y="719640"/>
          <a:ext cx="8127720" cy="5418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"/>
          <p:cNvSpPr txBox="1"/>
          <p:nvPr/>
        </p:nvSpPr>
        <p:spPr>
          <a:xfrm>
            <a:off x="1953360" y="38376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ru-RU" sz="3200" spc="-1" strike="noStrike">
                <a:solidFill>
                  <a:srgbClr val="003366"/>
                </a:solidFill>
                <a:latin typeface="Arial"/>
              </a:rPr>
              <a:t>8 Марта — Международный женский день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2" name="Content Placeholder 2"/>
          <p:cNvSpPr txBox="1"/>
          <p:nvPr/>
        </p:nvSpPr>
        <p:spPr>
          <a:xfrm>
            <a:off x="1953360" y="170928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Праздник весны и внимания к женщине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Традиция дарить цветы и подарки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Символ женственности и красоты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0" y="4559760"/>
            <a:ext cx="1749600" cy="224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2"/>
          <p:cNvSpPr txBox="1"/>
          <p:nvPr/>
        </p:nvSpPr>
        <p:spPr>
          <a:xfrm>
            <a:off x="1869480" y="55080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ru-RU" sz="3200" spc="-1" strike="noStrike">
                <a:solidFill>
                  <a:srgbClr val="003366"/>
                </a:solidFill>
                <a:latin typeface="Arial"/>
              </a:rPr>
              <a:t>История праздника 8 Марта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Content Placeholder 1"/>
          <p:cNvSpPr txBox="1"/>
          <p:nvPr/>
        </p:nvSpPr>
        <p:spPr>
          <a:xfrm>
            <a:off x="1869480" y="187632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Возник как день борьбы женщин за права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Стал символом весеннего обновления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Отмечается в более чем 100 странах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0" y="4559760"/>
            <a:ext cx="1749600" cy="224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tle 3"/>
          <p:cNvSpPr txBox="1"/>
          <p:nvPr/>
        </p:nvSpPr>
        <p:spPr>
          <a:xfrm>
            <a:off x="1551960" y="3754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ru-RU" sz="3200" spc="-1" strike="noStrike">
                <a:solidFill>
                  <a:srgbClr val="003366"/>
                </a:solidFill>
                <a:latin typeface="Arial"/>
              </a:rPr>
              <a:t>Значение праздника в современном мире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Content Placeholder 3"/>
          <p:cNvSpPr txBox="1"/>
          <p:nvPr/>
        </p:nvSpPr>
        <p:spPr>
          <a:xfrm>
            <a:off x="1602000" y="17010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День благодарности мамам, женам, дочерям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Символ уважения и любви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Время для теплых слов и внимания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0" y="4559760"/>
            <a:ext cx="1749600" cy="224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4"/>
          <p:cNvSpPr txBox="1"/>
          <p:nvPr/>
        </p:nvSpPr>
        <p:spPr>
          <a:xfrm>
            <a:off x="1677600" y="3250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ru-RU" sz="3200" spc="-1" strike="noStrike">
                <a:solidFill>
                  <a:srgbClr val="003366"/>
                </a:solidFill>
                <a:latin typeface="Arial"/>
              </a:rPr>
              <a:t>Поздравление с 8 Марта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1" name="Content Placeholder 4"/>
          <p:cNvSpPr txBox="1"/>
          <p:nvPr/>
        </p:nvSpPr>
        <p:spPr>
          <a:xfrm>
            <a:off x="1677600" y="16506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Желаем счастья, здоровья и благополучия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Пусть весна дарит вдохновение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Мира, добра и улыбок!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0" y="4559760"/>
            <a:ext cx="1749600" cy="224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itle 5"/>
          <p:cNvSpPr txBox="1"/>
          <p:nvPr/>
        </p:nvSpPr>
        <p:spPr>
          <a:xfrm>
            <a:off x="1819440" y="33300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ru-RU" sz="3200" spc="-1" strike="noStrike">
                <a:solidFill>
                  <a:srgbClr val="003366"/>
                </a:solidFill>
                <a:latin typeface="Arial"/>
              </a:rPr>
              <a:t>23 Февраля — День защитника Отечества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4" name="Content Placeholder 5"/>
          <p:cNvSpPr txBox="1"/>
          <p:nvPr/>
        </p:nvSpPr>
        <p:spPr>
          <a:xfrm>
            <a:off x="1819440" y="170856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Государственный праздник в честь вооруженных сил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День мужества и славы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Чествование защитников родины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1"/>
          <a:stretch/>
        </p:blipFill>
        <p:spPr>
          <a:xfrm>
            <a:off x="0" y="4559760"/>
            <a:ext cx="1749600" cy="224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itle 6"/>
          <p:cNvSpPr txBox="1"/>
          <p:nvPr/>
        </p:nvSpPr>
        <p:spPr>
          <a:xfrm>
            <a:off x="2011680" y="40896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ru-RU" sz="3200" spc="-1" strike="noStrike">
                <a:solidFill>
                  <a:srgbClr val="003366"/>
                </a:solidFill>
                <a:latin typeface="Arial"/>
              </a:rPr>
              <a:t>Исторические корни праздника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7" name="Content Placeholder 6"/>
          <p:cNvSpPr txBox="1"/>
          <p:nvPr/>
        </p:nvSpPr>
        <p:spPr>
          <a:xfrm>
            <a:off x="2011680" y="173448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Связан с созданием Красной Армии (1918)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Символ защиты отечества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Традиции воинской славы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0" y="4559760"/>
            <a:ext cx="1749600" cy="224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7"/>
          <p:cNvSpPr txBox="1"/>
          <p:nvPr/>
        </p:nvSpPr>
        <p:spPr>
          <a:xfrm>
            <a:off x="1810800" y="45072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ru-RU" sz="3200" spc="-1" strike="noStrike">
                <a:solidFill>
                  <a:srgbClr val="003366"/>
                </a:solidFill>
                <a:latin typeface="Arial"/>
              </a:rPr>
              <a:t>Героизм и долг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0" name="Content Placeholder 7"/>
          <p:cNvSpPr txBox="1"/>
          <p:nvPr/>
        </p:nvSpPr>
        <p:spPr>
          <a:xfrm>
            <a:off x="1810800" y="177624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Почтение памяти героев всех времен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Воинский долг как основа безопасности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Мужество и отвага защитников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0" y="4559760"/>
            <a:ext cx="1749600" cy="224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8"/>
          <p:cNvSpPr txBox="1"/>
          <p:nvPr/>
        </p:nvSpPr>
        <p:spPr>
          <a:xfrm>
            <a:off x="1777680" y="43380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ru-RU" sz="3200" spc="-1" strike="noStrike">
                <a:solidFill>
                  <a:srgbClr val="003366"/>
                </a:solidFill>
                <a:latin typeface="Arial"/>
              </a:rPr>
              <a:t>Современная армия России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3" name="Content Placeholder 8"/>
          <p:cNvSpPr txBox="1"/>
          <p:nvPr/>
        </p:nvSpPr>
        <p:spPr>
          <a:xfrm>
            <a:off x="1777680" y="175932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Высокие технологии и профессионализм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Надежная защита государственных интересов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Современное вооружение и техника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24" name="" descr=""/>
          <p:cNvPicPr/>
          <p:nvPr/>
        </p:nvPicPr>
        <p:blipFill>
          <a:blip r:embed="rId1"/>
          <a:stretch/>
        </p:blipFill>
        <p:spPr>
          <a:xfrm>
            <a:off x="0" y="4559760"/>
            <a:ext cx="1749600" cy="224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itle 9"/>
          <p:cNvSpPr txBox="1"/>
          <p:nvPr/>
        </p:nvSpPr>
        <p:spPr>
          <a:xfrm>
            <a:off x="2212200" y="55944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ru-RU" sz="3200" spc="-1" strike="noStrike">
                <a:solidFill>
                  <a:srgbClr val="003366"/>
                </a:solidFill>
                <a:latin typeface="Arial"/>
              </a:rPr>
              <a:t>Поздравление мужчин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6" name="Content Placeholder 9"/>
          <p:cNvSpPr txBox="1"/>
          <p:nvPr/>
        </p:nvSpPr>
        <p:spPr>
          <a:xfrm>
            <a:off x="2212200" y="188496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Желаем крепкого здоровья и силы духа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Мирного неба над головой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С праздником, защитники!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0" y="4559400"/>
            <a:ext cx="1749600" cy="224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0"/>
          <p:cNvSpPr txBox="1"/>
          <p:nvPr/>
        </p:nvSpPr>
        <p:spPr>
          <a:xfrm>
            <a:off x="1652400" y="52596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ru-RU" sz="3200" spc="-1" strike="noStrike">
                <a:solidFill>
                  <a:srgbClr val="003366"/>
                </a:solidFill>
                <a:latin typeface="Arial"/>
              </a:rPr>
              <a:t>Единство и патриотизм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9" name="Content Placeholder 10"/>
          <p:cNvSpPr txBox="1"/>
          <p:nvPr/>
        </p:nvSpPr>
        <p:spPr>
          <a:xfrm>
            <a:off x="1927800" y="209412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23 Февраля объединяет поколения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Гордость за свою страну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spcAft>
                <a:spcPts val="1001"/>
              </a:spcAft>
              <a:buClr>
                <a:srgbClr val="323232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• </a:t>
            </a:r>
            <a:r>
              <a:rPr b="0" lang="ru-RU" sz="2000" spc="-1" strike="noStrike">
                <a:solidFill>
                  <a:srgbClr val="323232"/>
                </a:solidFill>
                <a:latin typeface="Arial"/>
              </a:rPr>
              <a:t>Любовь к родине и защитникам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</p:txBody>
      </p:sp>
      <p:pic>
        <p:nvPicPr>
          <p:cNvPr id="130" name="" descr=""/>
          <p:cNvPicPr/>
          <p:nvPr/>
        </p:nvPicPr>
        <p:blipFill>
          <a:blip r:embed="rId1"/>
          <a:stretch/>
        </p:blipFill>
        <p:spPr>
          <a:xfrm>
            <a:off x="0" y="4559760"/>
            <a:ext cx="1749600" cy="224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523880" y="2299680"/>
            <a:ext cx="9143640" cy="87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ru-RU" sz="6000" spc="-1" strike="noStrike">
                <a:solidFill>
                  <a:schemeClr val="lt1"/>
                </a:solidFill>
                <a:latin typeface="Times New Roman"/>
              </a:rPr>
              <a:t>Спасибо за внимание!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ubTitle"/>
          </p:nvPr>
        </p:nvSpPr>
        <p:spPr>
          <a:xfrm>
            <a:off x="1523880" y="3855960"/>
            <a:ext cx="9143640" cy="232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lt1"/>
                </a:solidFill>
                <a:latin typeface="Times New Roman"/>
              </a:rPr>
              <a:t>Наши контакты: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lt1"/>
                </a:solidFill>
                <a:latin typeface="Times New Roman"/>
              </a:rPr>
              <a:t>117105, г. Москва, Варшавское шоссе, д. 16А  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lt1"/>
                </a:solidFill>
                <a:latin typeface="Times New Roman"/>
              </a:rPr>
              <a:t>тел.: 8 (499)418-00-02   e-mail: mkramn@inbox.ru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Times New Roman"/>
              </a:rPr>
              <a:t>www.mkramn.ru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Application>LibreOffice/7.6.7.2$Linux_X86_64 LibreOffice_project/60$Build-2</Application>
  <AppVersion>15.0000</AppVersion>
  <Words>141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2020-04-25T15:42:00Z</dcterms:created>
  <dc:creator>Andrey PlP</dc:creator>
  <dc:description/>
  <dc:language>ru-RU</dc:language>
  <cp:lastModifiedBy/>
  <dcterms:modified xsi:type="dcterms:W3CDTF">2026-03-07T10:06:56Z</dcterms:modified>
  <cp:revision>52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FAFB7367369743A481923895EC17D1E5_13</vt:lpwstr>
  </property>
  <property fmtid="{D5CDD505-2E9C-101B-9397-08002B2CF9AE}" pid="3" name="KSOProductBuildVer">
    <vt:lpwstr>1049-12.2.0.19307</vt:lpwstr>
  </property>
  <property fmtid="{D5CDD505-2E9C-101B-9397-08002B2CF9AE}" pid="4" name="PresentationFormat">
    <vt:lpwstr>Произвольный</vt:lpwstr>
  </property>
  <property fmtid="{D5CDD505-2E9C-101B-9397-08002B2CF9AE}" pid="5" name="Slides">
    <vt:i4>11</vt:i4>
  </property>
</Properties>
</file>